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9810A-59CF-466B-88B7-55414ABDE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AA6A45-5026-4270-A21D-BEF860A6F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41AF0D-9F8D-4438-8212-CF433CDC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0FE585-B162-41D0-B6C7-B04EAABC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82C4-6B2D-481F-9212-237F054AD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54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54C28-0FFB-44C8-8C5D-61231D16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D156D-9C1D-4CB9-BE04-474E209E0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CAAE9B-67DC-403E-9600-AA861644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BB7A15-9985-4C32-87EE-4EFA18E0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C965D7-9699-4771-AF82-713C3AC9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08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A347A-0CCB-49A5-AE14-512D6653E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2F3C84-1CAA-4537-9071-C859B6A00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8B8B2C-5D4F-45AE-BC38-0F53DE3D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5B0321-027F-4A30-8502-836EB39E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53F54B-BC76-438E-8C01-95F90BF7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341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7EEA4-4A41-4EFD-BF15-B39141D3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957F5C-BF4A-4D16-AFBF-82E2F1A58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6AF32D-18B3-4798-9954-CB5E92BDA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D1CD9C-DBE6-4C92-828D-E3380E3FB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2648F5-0411-4323-8644-0354C334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CEB477-E776-4087-93A1-8F6DDE70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784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48232-0AD3-44C8-A45D-9DCFB8D76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05DFA8-D25C-4047-996D-4A394EAE0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6F86E2-75D5-4B35-BB76-D5CEB681B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9ECA01-D086-4E5F-AC71-91847A406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6A62E6-AE74-4FD8-B11A-6B7C3D38A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412CF1-1A1E-47D8-996D-CC29882D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5516F4-BA53-4113-A8C3-AD0CDBF2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23A0D9-52C5-4458-B0F9-85566F12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527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B53EC-4246-4F17-A4B2-CF002DC6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42A1D4-AF0A-4C10-8E85-D7EB3C91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62750F-9BCB-445A-BEA6-D28B861C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A4B372-8618-493B-B120-9A9C16CA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387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964BF4-7D2D-486C-8E16-BEF361A4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D4B254-F038-41E2-A41A-6C802EE9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2DF665-F9F7-4928-AFAC-0B61E31B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244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9AF9A-00B4-4176-A69E-5653E9FA9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EAB5F3-4DE9-40C8-B4B1-617E2CABC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CD9BA4-9059-43A7-8E2F-53398A646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90877D-9B9A-45E1-A26A-9C64BC67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624AC7-6F7F-45AE-84A4-21B19FDD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418FE5-7736-4ADA-9977-C08BF7B7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997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28C76-4738-4925-A10B-872E5B02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05CB684-32FA-4103-B9EF-61A54A833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684BA3-CC09-491D-BAAC-B79F4550F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E7FEE7-5D59-45C3-8929-8F4D616C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38D735-2F8D-4ED8-94BD-D9BFCDA3F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3EF258-D865-4B62-900D-49E1F680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10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1D68E-355C-4553-A950-25245C11D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1E373D-EFE0-408A-A698-98CC72A93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81ABE2-A3BF-43B9-9A95-57348A5C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29A0BF-6DC7-4341-9EC9-3E5D96C0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255431-F584-432B-935E-FA29F597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817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F9D80B-F15D-4118-827E-36073590A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0E6A3F6-1344-438D-A90A-EFDCB95AB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C98ED9-1103-47AB-9073-3BA71F48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96416-873A-45D7-B36F-B3818AA5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E5D8A1-A515-4D53-B5FD-1D3E2571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860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119B10-2581-438E-A2FA-900DCBC8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FFD003-758C-43B1-927E-50B919B79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EACB05-B630-450E-90B6-C37381187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AFAA7-F016-425B-BBA5-CAB95F2BCC7F}" type="datetimeFigureOut">
              <a:rPr lang="es-MX" smtClean="0"/>
              <a:t>18/11/2025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3D321C-30E4-4B16-B146-70CBF12CA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EAF193-0168-45DF-8A2F-88C311A77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35164-0F5B-4726-939B-0C1153DD3C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413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.png"/><Relationship Id="rId26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png"/><Relationship Id="rId25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image" Target="../media/image1.png"/><Relationship Id="rId20" Type="http://schemas.openxmlformats.org/officeDocument/2006/relationships/image" Target="../media/image5.png"/><Relationship Id="rId29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8.png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7.png"/><Relationship Id="rId27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7.xml"/><Relationship Id="rId7" Type="http://schemas.openxmlformats.org/officeDocument/2006/relationships/image" Target="../media/image15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8.xml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21.pn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0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19.png"/><Relationship Id="rId5" Type="http://schemas.openxmlformats.org/officeDocument/2006/relationships/tags" Target="../tags/tag23.xml"/><Relationship Id="rId15" Type="http://schemas.openxmlformats.org/officeDocument/2006/relationships/image" Target="../media/image23.png"/><Relationship Id="rId10" Type="http://schemas.openxmlformats.org/officeDocument/2006/relationships/image" Target="../media/image1.png"/><Relationship Id="rId4" Type="http://schemas.openxmlformats.org/officeDocument/2006/relationships/tags" Target="../tags/tag22.xml"/><Relationship Id="rId9" Type="http://schemas.openxmlformats.org/officeDocument/2006/relationships/image" Target="../media/image18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8.png"/><Relationship Id="rId3" Type="http://schemas.openxmlformats.org/officeDocument/2006/relationships/tags" Target="../tags/tag2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7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26.png"/><Relationship Id="rId5" Type="http://schemas.openxmlformats.org/officeDocument/2006/relationships/tags" Target="../tags/tag30.xml"/><Relationship Id="rId10" Type="http://schemas.openxmlformats.org/officeDocument/2006/relationships/image" Target="../media/image25.png"/><Relationship Id="rId4" Type="http://schemas.openxmlformats.org/officeDocument/2006/relationships/tags" Target="../tags/tag29.xml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\documentclass{article}&#10;\usepackage{amsmath}&#10;\usepackage{amssymb}&#10;\usepackage[HTML]{xcolor}&#10;\usepackage{nopageno}&#10;&#10;\definecolor{Aguamarina}{HTML}{006A6A}&#10;\definecolor{Vino}{HTML}{890909}&#10;&#10;\begin{document}&#10;&#10;Desarrollo {\color{Vino} Triangular}&#10;&#10;\end{document}" title="IguanaTex Picture Display">
            <a:extLst>
              <a:ext uri="{FF2B5EF4-FFF2-40B4-BE49-F238E27FC236}">
                <a16:creationId xmlns:a16="http://schemas.microsoft.com/office/drawing/2014/main" id="{7CEA707B-C892-40B3-B4A2-8216762379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352338"/>
            <a:ext cx="2936637" cy="290061"/>
          </a:xfrm>
          <a:prstGeom prst="rect">
            <a:avLst/>
          </a:prstGeom>
        </p:spPr>
      </p:pic>
      <p:pic>
        <p:nvPicPr>
          <p:cNvPr id="34" name="Imagen 33" descr="\documentclass{article}&#10;\usepackage{amsmath}&#10;\usepackage{amssymb}&#10;\usepackage[HTML]{xcolor}&#10;\usepackage{nopageno}&#10;&#10;\definecolor{Aguamarina}{HTML}{006A6A}&#10;\definecolor{Vino}{HTML}{890909}&#10;&#10;\begin{document}&#10;\color{Vino}&#10;\textbf{Picture}&#10;&#10;\end{document}" title="IguanaTex Picture Display">
            <a:extLst>
              <a:ext uri="{FF2B5EF4-FFF2-40B4-BE49-F238E27FC236}">
                <a16:creationId xmlns:a16="http://schemas.microsoft.com/office/drawing/2014/main" id="{7119CB6E-DB04-4E5A-95AB-E22FC343DDC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706046"/>
            <a:ext cx="542732" cy="105507"/>
          </a:xfrm>
          <a:prstGeom prst="rect">
            <a:avLst/>
          </a:prstGeom>
        </p:spPr>
      </p:pic>
      <p:pic>
        <p:nvPicPr>
          <p:cNvPr id="32" name="Imagen 31" descr="\documentclass{article}&#10;\usepackage{amsmath}&#10;\usepackage{amssymb}&#10;\usepackage[HTML]{xcolor}&#10;\usepackage{nopageno}&#10;&#10;\definecolor{Aguamarina}{HTML}{006A6A}&#10;\definecolor{Vino}{HTML}{890909}&#10;&#10;\begin{document}&#10;&#10;&#10;\[&#10;\begin{aligned}&#10;k^2 &amp;= \frac{2mE}{\hbar^2} &amp; q^2 &amp;= \frac{2mV_0}{\hbar^2} \\[1em]&#10;\alpha_1 &amp;= \left( \frac{q^2}{b-a} \right)^{1/3} &amp; \alpha_2 &amp;= \left( -\frac{q^2}{c-b} \right)^{1/3} \\[1em]&#10;\beta_1 &amp;= -\frac{1}{\alpha_1^2} \left( \frac{q^2 a}{b-a} + k^2 \right) &amp; \beta_2 &amp;= \frac{1}{\alpha_2^2} \left( \frac{q^2 c}{c-b} - k^2 \right) \\[1em]&#10;z_1(x) &amp;= \alpha_1 x + \beta_1 &amp; z_2(x) &amp;= \alpha_2 x + \beta_2&#10;\end{aligned}&#10;\]&#10;\end{document}" title="IguanaTex Picture Display">
            <a:extLst>
              <a:ext uri="{FF2B5EF4-FFF2-40B4-BE49-F238E27FC236}">
                <a16:creationId xmlns:a16="http://schemas.microsoft.com/office/drawing/2014/main" id="{8CDF20E0-1BF0-4D42-8475-1140D68C630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17" y="4268427"/>
            <a:ext cx="3626303" cy="1900494"/>
          </a:xfrm>
          <a:prstGeom prst="rect">
            <a:avLst/>
          </a:prstGeom>
        </p:spPr>
      </p:pic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F2F425A-D183-4298-A85A-00D6C3A16FFB}"/>
              </a:ext>
            </a:extLst>
          </p:cNvPr>
          <p:cNvCxnSpPr>
            <a:cxnSpLocks/>
          </p:cNvCxnSpPr>
          <p:nvPr/>
        </p:nvCxnSpPr>
        <p:spPr>
          <a:xfrm>
            <a:off x="1301386" y="4508115"/>
            <a:ext cx="3699545" cy="6292"/>
          </a:xfrm>
          <a:prstGeom prst="line">
            <a:avLst/>
          </a:prstGeom>
          <a:ln w="38100">
            <a:solidFill>
              <a:srgbClr val="921C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Imagen 37" descr="\documentclass{article}&#10;\usepackage{amsmath}&#10;\usepackage{amssymb}&#10;\usepackage[HTML]{xcolor}&#10;\usepackage{nopageno}&#10;&#10;\definecolor{Aguamarina}{HTML}{006A6A}&#10;\definecolor{Vino}{HTML}{890909}&#10;&#10;\begin{document}&#10;&#10;\[&#10;\Psi(x) = \begin{cases}&#10;A e^{ikx} + B e^{-ikx} &amp; x &lt; a \\&#10;C \, u(z_1) + D \, v(z_1) &amp; a \leq x \leq b \\&#10;E \, u(z_2) + F \, v(z_2) &amp; b \leq x \leq c \\&#10;G e^{ikx} + H e^{-ikx} &amp; x &gt; c&#10;\end{cases}&#10;\]&#10;&#10;\end{document}" title="IguanaTex Picture Display">
            <a:extLst>
              <a:ext uri="{FF2B5EF4-FFF2-40B4-BE49-F238E27FC236}">
                <a16:creationId xmlns:a16="http://schemas.microsoft.com/office/drawing/2014/main" id="{1DEB77DF-A344-40E9-B4A6-FCEE2261501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13" y="1511123"/>
            <a:ext cx="3136196" cy="994779"/>
          </a:xfrm>
          <a:prstGeom prst="rect">
            <a:avLst/>
          </a:prstGeom>
        </p:spPr>
      </p:pic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4BA9F25-122B-44E6-9098-BCDD3A15DCFF}"/>
              </a:ext>
            </a:extLst>
          </p:cNvPr>
          <p:cNvCxnSpPr>
            <a:cxnSpLocks/>
          </p:cNvCxnSpPr>
          <p:nvPr/>
        </p:nvCxnSpPr>
        <p:spPr>
          <a:xfrm flipV="1">
            <a:off x="1474537" y="2469591"/>
            <a:ext cx="0" cy="2249647"/>
          </a:xfrm>
          <a:prstGeom prst="line">
            <a:avLst/>
          </a:prstGeom>
          <a:ln w="38100">
            <a:solidFill>
              <a:srgbClr val="921C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44992024-74DF-422E-BF2C-1EB077AD57D5}"/>
              </a:ext>
            </a:extLst>
          </p:cNvPr>
          <p:cNvCxnSpPr>
            <a:cxnSpLocks/>
          </p:cNvCxnSpPr>
          <p:nvPr/>
        </p:nvCxnSpPr>
        <p:spPr>
          <a:xfrm flipV="1">
            <a:off x="2492623" y="3232989"/>
            <a:ext cx="696286" cy="12688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1FB6594E-D3CD-48FE-8754-39E67ED20A7A}"/>
              </a:ext>
            </a:extLst>
          </p:cNvPr>
          <p:cNvCxnSpPr>
            <a:cxnSpLocks/>
          </p:cNvCxnSpPr>
          <p:nvPr/>
        </p:nvCxnSpPr>
        <p:spPr>
          <a:xfrm>
            <a:off x="3176865" y="3238232"/>
            <a:ext cx="1379450" cy="126359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5D63A8F3-896A-460A-BEF0-3EE4174BC3FC}"/>
              </a:ext>
            </a:extLst>
          </p:cNvPr>
          <p:cNvCxnSpPr>
            <a:cxnSpLocks/>
          </p:cNvCxnSpPr>
          <p:nvPr/>
        </p:nvCxnSpPr>
        <p:spPr>
          <a:xfrm>
            <a:off x="3188909" y="3308490"/>
            <a:ext cx="18824" cy="119333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6" name="Imagen 75" descr="\documentclass{article}&#10;\usepackage{amsmath}&#10;\usepackage{amssymb}&#10;\usepackage[HTML]{xcolor}&#10;\usepackage{nopageno}&#10;&#10;\definecolor{Aguamarina}{HTML}{006A6A}&#10;\definecolor{Vino}{HTML}{890909}&#10;&#10;\begin{document}&#10;a&#10;&#10;\end{document}" title="IguanaTex Picture Display">
            <a:extLst>
              <a:ext uri="{FF2B5EF4-FFF2-40B4-BE49-F238E27FC236}">
                <a16:creationId xmlns:a16="http://schemas.microsoft.com/office/drawing/2014/main" id="{4D2B22A7-A79E-4078-A785-CB151E570AE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510" y="4597024"/>
            <a:ext cx="119155" cy="122211"/>
          </a:xfrm>
          <a:prstGeom prst="rect">
            <a:avLst/>
          </a:prstGeom>
        </p:spPr>
      </p:pic>
      <p:pic>
        <p:nvPicPr>
          <p:cNvPr id="70" name="Imagen 69" descr="\documentclass{article}&#10;\usepackage{amsmath}&#10;\usepackage{amssymb}&#10;\usepackage[HTML]{xcolor}&#10;\usepackage{nopageno}&#10;&#10;\definecolor{Aguamarina}{HTML}{006A6A}&#10;\definecolor{Vino}{HTML}{890909}&#10;&#10;\begin{document}&#10;\[&#10;V(x) = \begin{cases}&#10;0 &amp; x \leq a \quad \\&#10;\frac{V_0}{b-a}(x-a) &amp; a \leq x \leq b \quad  \\&#10;\frac{-V_0}{c-b}(x-c) &amp; b \leq x \leq c \quad  \\&#10;0 &amp; x \geq c \quad &#10;\end{cases}&#10;\]&#10;\end{document}" title="IguanaTex Picture Display">
            <a:extLst>
              <a:ext uri="{FF2B5EF4-FFF2-40B4-BE49-F238E27FC236}">
                <a16:creationId xmlns:a16="http://schemas.microsoft.com/office/drawing/2014/main" id="{287F237D-5D8B-4078-9EF9-A8C0404F87C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6713" y="2817472"/>
            <a:ext cx="2716746" cy="1031240"/>
          </a:xfrm>
          <a:prstGeom prst="rect">
            <a:avLst/>
          </a:prstGeom>
        </p:spPr>
      </p:pic>
      <p:pic>
        <p:nvPicPr>
          <p:cNvPr id="66" name="Imagen 65" descr="\documentclass{article}&#10;\usepackage{amsmath}&#10;\usepackage{amssymb}&#10;\usepackage[HTML]{xcolor}&#10;\usepackage{nopageno}&#10;&#10;\definecolor{Aguamarina}{HTML}{006A6A}&#10;\definecolor{Vino}{HTML}{890909}&#10;&#10;\begin{document}&#10;&#10;&#10;\[&#10;-\frac{\hbar^2}{2m} \frac{d^2 \psi}{d x^2} + V(x)\psi = E^*\psi&#10;\]&#10;&#10;\end{document}" title="IguanaTex Picture Display">
            <a:extLst>
              <a:ext uri="{FF2B5EF4-FFF2-40B4-BE49-F238E27FC236}">
                <a16:creationId xmlns:a16="http://schemas.microsoft.com/office/drawing/2014/main" id="{202678CE-A720-4B57-B288-786C074CBB1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910" y="575287"/>
            <a:ext cx="2675716" cy="516121"/>
          </a:xfrm>
          <a:prstGeom prst="rect">
            <a:avLst/>
          </a:prstGeom>
        </p:spPr>
      </p:pic>
      <p:pic>
        <p:nvPicPr>
          <p:cNvPr id="80" name="Imagen 79" descr="\documentclass{article}&#10;\usepackage{amsmath}&#10;\usepackage{amssymb}&#10;\usepackage[HTML]{xcolor}&#10;\usepackage{nopageno}&#10;&#10;\definecolor{Aguamarina}{HTML}{006A6A}&#10;\definecolor{Vino}{HTML}{890909}&#10;&#10;\begin{document}&#10;&#10;c&#10;&#10;\end{document}" title="IguanaTex Picture Display">
            <a:extLst>
              <a:ext uri="{FF2B5EF4-FFF2-40B4-BE49-F238E27FC236}">
                <a16:creationId xmlns:a16="http://schemas.microsoft.com/office/drawing/2014/main" id="{542B6E58-701E-4C61-BFFF-FA1099A233C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604" y="4597025"/>
            <a:ext cx="102351" cy="122210"/>
          </a:xfrm>
          <a:prstGeom prst="rect">
            <a:avLst/>
          </a:prstGeom>
        </p:spPr>
      </p:pic>
      <p:pic>
        <p:nvPicPr>
          <p:cNvPr id="78" name="Imagen 77" descr="\documentclass{article}&#10;\usepackage{amsmath}&#10;\usepackage{amssymb}&#10;\usepackage[HTML]{xcolor}&#10;\usepackage{nopageno}&#10;&#10;\definecolor{Aguamarina}{HTML}{006A6A}&#10;\definecolor{Vino}{HTML}{890909}&#10;&#10;\begin{document}&#10;&#10;b&#10;&#10;\end{document}" title="IguanaTex Picture Display">
            <a:extLst>
              <a:ext uri="{FF2B5EF4-FFF2-40B4-BE49-F238E27FC236}">
                <a16:creationId xmlns:a16="http://schemas.microsoft.com/office/drawing/2014/main" id="{840898A8-40F6-4EE7-AC62-1E483723E5C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497" y="4572082"/>
            <a:ext cx="120250" cy="165863"/>
          </a:xfrm>
          <a:prstGeom prst="rect">
            <a:avLst/>
          </a:prstGeom>
        </p:spPr>
      </p:pic>
      <p:pic>
        <p:nvPicPr>
          <p:cNvPr id="82" name="Imagen 81" descr="\documentclass{article}&#10;\usepackage{amsmath}&#10;\usepackage{amssymb}&#10;\usepackage[HTML]{xcolor}&#10;\usepackage{nopageno}&#10;&#10;\definecolor{Aguamarina}{HTML}{006A6A}&#10;\definecolor{Vino}{HTML}{890909}&#10;&#10;\begin{document}&#10;&#10;\color{Vino}&#10;\textbf{V(x)}&#10;&#10;\end{document}" title="IguanaTex Picture Display">
            <a:extLst>
              <a:ext uri="{FF2B5EF4-FFF2-40B4-BE49-F238E27FC236}">
                <a16:creationId xmlns:a16="http://schemas.microsoft.com/office/drawing/2014/main" id="{361F3D8D-F0BA-4602-9451-4B06D38E154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87" y="2129380"/>
            <a:ext cx="573104" cy="257592"/>
          </a:xfrm>
          <a:prstGeom prst="rect">
            <a:avLst/>
          </a:prstGeom>
        </p:spPr>
      </p:pic>
      <p:pic>
        <p:nvPicPr>
          <p:cNvPr id="84" name="Imagen 83" descr="\documentclass{article}&#10;\usepackage{amsmath}&#10;\usepackage{amssymb}&#10;\usepackage[HTML]{xcolor}&#10;\usepackage{nopageno}&#10;&#10;\definecolor{Aguamarina}{HTML}{006A6A}&#10;\definecolor{Vino}{HTML}{890909}&#10;&#10;\begin{document}&#10;&#10;\color{Vino}&#10;x&#10;&#10;\end{document}" title="IguanaTex Picture Display">
            <a:extLst>
              <a:ext uri="{FF2B5EF4-FFF2-40B4-BE49-F238E27FC236}">
                <a16:creationId xmlns:a16="http://schemas.microsoft.com/office/drawing/2014/main" id="{9352C829-089F-4779-82A4-A20197C2C793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285" y="4457766"/>
            <a:ext cx="135655" cy="114316"/>
          </a:xfrm>
          <a:prstGeom prst="rect">
            <a:avLst/>
          </a:prstGeom>
        </p:spPr>
      </p:pic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6F416827-55AA-4C79-A1AF-07D9BB36D22B}"/>
              </a:ext>
            </a:extLst>
          </p:cNvPr>
          <p:cNvCxnSpPr>
            <a:cxnSpLocks/>
          </p:cNvCxnSpPr>
          <p:nvPr/>
        </p:nvCxnSpPr>
        <p:spPr>
          <a:xfrm>
            <a:off x="971728" y="3642873"/>
            <a:ext cx="4357812" cy="12362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Imagen 100" descr="\documentclass{article}&#10;\usepackage{amsmath}&#10;\usepackage{amssymb}&#10;\usepackage[HTML]{xcolor}&#10;\usepackage{nopageno}&#10;&#10;\definecolor{Aguamarina}{HTML}{006A6A}&#10;\definecolor{Vino}{HTML}{890909}&#10;&#10;\begin{document}&#10;&#10;\[&#10;E^* &lt; V_0&#10;\]&#10;&#10;\end{document}" title="IguanaTex Picture Display">
            <a:extLst>
              <a:ext uri="{FF2B5EF4-FFF2-40B4-BE49-F238E27FC236}">
                <a16:creationId xmlns:a16="http://schemas.microsoft.com/office/drawing/2014/main" id="{C98A7465-790B-4096-B5F0-31C4096313B2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026" y="3458896"/>
            <a:ext cx="461194" cy="120826"/>
          </a:xfrm>
          <a:prstGeom prst="rect">
            <a:avLst/>
          </a:prstGeom>
        </p:spPr>
      </p:pic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318EE890-0E25-4F03-97D3-44145E6D816A}"/>
              </a:ext>
            </a:extLst>
          </p:cNvPr>
          <p:cNvCxnSpPr>
            <a:cxnSpLocks/>
          </p:cNvCxnSpPr>
          <p:nvPr/>
        </p:nvCxnSpPr>
        <p:spPr>
          <a:xfrm>
            <a:off x="1473139" y="3236542"/>
            <a:ext cx="172500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9" name="Imagen 98" descr="\documentclass{article}&#10;\usepackage{amsmath}&#10;\usepackage{amssymb}&#10;\usepackage[HTML]{xcolor}&#10;\usepackage{nopageno}&#10;&#10;\definecolor{Aguamarina}{HTML}{006A6A}&#10;\definecolor{Vino}{HTML}{890909}&#10;&#10;\begin{document}&#10;\[&#10;V_0&#10;\]&#10;\end{document}" title="IguanaTex Picture Display">
            <a:extLst>
              <a:ext uri="{FF2B5EF4-FFF2-40B4-BE49-F238E27FC236}">
                <a16:creationId xmlns:a16="http://schemas.microsoft.com/office/drawing/2014/main" id="{9C26A7E1-F8FC-41EF-9FD7-7CB857550C4D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253" y="3146117"/>
            <a:ext cx="170266" cy="162373"/>
          </a:xfrm>
          <a:prstGeom prst="rect">
            <a:avLst/>
          </a:prstGeom>
        </p:spPr>
      </p:pic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EC345AF8-B123-417B-8BAA-948B1E06AA1E}"/>
              </a:ext>
            </a:extLst>
          </p:cNvPr>
          <p:cNvCxnSpPr>
            <a:cxnSpLocks/>
          </p:cNvCxnSpPr>
          <p:nvPr/>
        </p:nvCxnSpPr>
        <p:spPr>
          <a:xfrm>
            <a:off x="997959" y="2908339"/>
            <a:ext cx="4357812" cy="12362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Imagen 105" descr="\documentclass{article}&#10;\usepackage{amsmath}&#10;\usepackage{amssymb}&#10;\usepackage[HTML]{xcolor}&#10;\usepackage{nopageno}&#10;&#10;\definecolor{Aguamarina}{HTML}{006A6A}&#10;\definecolor{Vino}{HTML}{890909}&#10;&#10;\begin{document}&#10;&#10;\[&#10;E^* &gt; V_0&#10;\]&#10;&#10;\end{document}" title="IguanaTex Picture Display">
            <a:extLst>
              <a:ext uri="{FF2B5EF4-FFF2-40B4-BE49-F238E27FC236}">
                <a16:creationId xmlns:a16="http://schemas.microsoft.com/office/drawing/2014/main" id="{DC6A8C6F-C2C2-4888-851D-CDEAEA5F6930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340" y="2703508"/>
            <a:ext cx="466487" cy="12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9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\documentclass{article}&#10;\usepackage{amsmath}&#10;\usepackage{amssymb}&#10;\usepackage[HTML]{xcolor}&#10;\usepackage{nopageno}&#10;&#10;\definecolor{Aguamarina}{HTML}{006A6A}&#10;\definecolor{Vino}{HTML}{890909}&#10;&#10;\begin{document}&#10;&#10;Desarrollo {\color{Vino} Triangular}&#10;&#10;\end{document}" title="IguanaTex Picture Display">
            <a:extLst>
              <a:ext uri="{FF2B5EF4-FFF2-40B4-BE49-F238E27FC236}">
                <a16:creationId xmlns:a16="http://schemas.microsoft.com/office/drawing/2014/main" id="{7CEA707B-C892-40B3-B4A2-8216762379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352338"/>
            <a:ext cx="2936637" cy="290061"/>
          </a:xfrm>
          <a:prstGeom prst="rect">
            <a:avLst/>
          </a:prstGeom>
        </p:spPr>
      </p:pic>
      <p:pic>
        <p:nvPicPr>
          <p:cNvPr id="29" name="Imagen 28" descr="\documentclass{article}&#10;\usepackage{amsmath}&#10;\usepackage{amssymb}&#10;\usepackage[HTML]{xcolor}&#10;\usepackage{nopageno}&#10;&#10;\definecolor{Aguamarina}{HTML}{006A6A}&#10;\definecolor{Vino}{HTML}{890909}&#10;&#10;\begin{document}&#10;\color{Vino}&#10;\textbf{Matriz de Transferencia}&#10;&#10;\end{document}" title="IguanaTex Picture Display">
            <a:extLst>
              <a:ext uri="{FF2B5EF4-FFF2-40B4-BE49-F238E27FC236}">
                <a16:creationId xmlns:a16="http://schemas.microsoft.com/office/drawing/2014/main" id="{532C0A9D-0B7C-40A9-BAB0-F651E8E397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706046"/>
            <a:ext cx="1789137" cy="108189"/>
          </a:xfrm>
          <a:prstGeom prst="rect">
            <a:avLst/>
          </a:prstGeom>
        </p:spPr>
      </p:pic>
      <p:pic>
        <p:nvPicPr>
          <p:cNvPr id="3" name="Imagen 2" descr="\documentclass{article}&#10;\usepackage{amsmath}&#10;\usepackage{amssymb}&#10;\usepackage[HTML]{xcolor}&#10;\usepackage{nopageno}&#10;&#10;\definecolor{Aguamarina}{HTML}{006A6A}&#10;\definecolor{Vino}{HTML}{890909}&#10;&#10;\begin{document}&#10;\[&#10;\begin{pmatrix} A \\ B \end{pmatrix} = M_1^{-1} M_2 M_3^{-1} M_4 M_5^{-1} M_6 \begin{pmatrix} G \\ H \end{pmatrix}&#10;\]&#10;\end{document}" title="IguanaTex Picture Display">
            <a:extLst>
              <a:ext uri="{FF2B5EF4-FFF2-40B4-BE49-F238E27FC236}">
                <a16:creationId xmlns:a16="http://schemas.microsoft.com/office/drawing/2014/main" id="{1A9155AE-EDE5-4722-AC12-6E0C48D14DC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968" y="2016825"/>
            <a:ext cx="2644397" cy="388399"/>
          </a:xfrm>
          <a:prstGeom prst="rect">
            <a:avLst/>
          </a:prstGeom>
        </p:spPr>
      </p:pic>
      <p:pic>
        <p:nvPicPr>
          <p:cNvPr id="10" name="Imagen 9" descr="\documentclass{article}&#10;\usepackage{amsmath}&#10;\usepackage{amssymb}&#10;\usepackage[HTML]{xcolor}&#10;\usepackage{nopageno}&#10;&#10;\definecolor{Aguamarina}{HTML}{006A6A}&#10;\definecolor{Vino}{HTML}{890909}&#10;&#10;\begin{document}&#10;\[&#10;\begin{pmatrix} A \\ B \end{pmatrix} = \begin{pmatrix} \Gamma_{11} &amp; \Gamma_{12} \\ \Gamma_{21} &amp; \Gamma_{22} \end{pmatrix} \begin{pmatrix} G \\ 0 \end{pmatrix}&#10;\]&#10;\end{document}" title="IguanaTex Picture Display">
            <a:extLst>
              <a:ext uri="{FF2B5EF4-FFF2-40B4-BE49-F238E27FC236}">
                <a16:creationId xmlns:a16="http://schemas.microsoft.com/office/drawing/2014/main" id="{06E059B2-5751-4319-9EBF-C058E21899D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790" y="2983101"/>
            <a:ext cx="4923819" cy="107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3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\documentclass{article}&#10;\usepackage{amsmath}&#10;\usepackage{amssymb}&#10;\usepackage[HTML]{xcolor}&#10;\usepackage{nopageno}&#10;&#10;\definecolor{Aguamarina}{HTML}{006A6A}&#10;\definecolor{Vino}{HTML}{890909}&#10;&#10;\begin{document}&#10;&#10;\begin{align*}&#10;\Gamma_{11} = e^{ik(c-2a)} \left[ \begin{aligned}&#10;&amp;- h_1 \left( ik \, u(z_1|_a) \, u(z_2|_b) + \alpha_1 \, u'(z_1|_a) \, u(z_2|_b) \right) \\&#10;&amp;- h_2 \left( ik \, u(z_1|_a) \, u'(z_2|_b) + \alpha_1 \, u'(z_1|_a) \, u'(z_2|_b) \right) \\&#10;&amp;- h_3 \left( ik \, u(z_1|_a) \, u(z_2|_c) + \alpha_1 \, u'(z_1|_a) \, u(z_2|_c) \right) \\&#10;&amp;- h_4 \left( ik \, u(z_1|_a) \, u'(z_2|_c) + \alpha_1 \, u'(z_1|_a) \, u'(z_2|_c) \right) \\&#10;&amp;- l_4 \left( ik \, v(z_1|_a) \, v'(z_2|_c) + \alpha_1 \, v'(z_1|_a) \, v'(z_2|_c) \right) \\&#10;&amp;- l_3 \left( ik \, v(z_1|_a) \, v(z_2|_c) + \alpha_1 \, v'(z_1|_a) \, v(z_2|_c) \right) \\&#10;&amp;- l_1 \left( ik \, v(z_1|_a) \, v(z_2|_b) + \alpha_1 \, v'(z_1|_a) \, v(z_2|_b) \right) \\&#10;&amp;- l_2 \left( ik \, v(z_1|_a) \, v'(z_2|_b) + \alpha_1 \, v'(z_1|_a) \, v'(z_2|_b) \right)&#10;\end{aligned} \right]&#10;\end{align*}&#10;&#10;\end{document}" title="IguanaTex Picture Display">
            <a:extLst>
              <a:ext uri="{FF2B5EF4-FFF2-40B4-BE49-F238E27FC236}">
                <a16:creationId xmlns:a16="http://schemas.microsoft.com/office/drawing/2014/main" id="{6CF9BE20-F9C0-4A69-A206-45369CB69AA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45" y="1701744"/>
            <a:ext cx="4325676" cy="1820440"/>
          </a:xfrm>
          <a:prstGeom prst="rect">
            <a:avLst/>
          </a:prstGeom>
        </p:spPr>
      </p:pic>
      <p:pic>
        <p:nvPicPr>
          <p:cNvPr id="7" name="Imagen 6" descr="\documentclass{article}&#10;\usepackage{amsmath}&#10;\usepackage{amssymb}&#10;\usepackage[HTML]{xcolor}&#10;\usepackage{nopageno}&#10;&#10;\definecolor{Aguamarina}{HTML}{006A6A}&#10;\definecolor{Vino}{HTML}{890909}&#10;&#10;\begin{document}&#10;&#10;Desarrollo {\color{Vino} Triangular}&#10;&#10;\end{document}" title="IguanaTex Picture Display">
            <a:extLst>
              <a:ext uri="{FF2B5EF4-FFF2-40B4-BE49-F238E27FC236}">
                <a16:creationId xmlns:a16="http://schemas.microsoft.com/office/drawing/2014/main" id="{7CEA707B-C892-40B3-B4A2-8216762379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352338"/>
            <a:ext cx="2936637" cy="290061"/>
          </a:xfrm>
          <a:prstGeom prst="rect">
            <a:avLst/>
          </a:prstGeom>
        </p:spPr>
      </p:pic>
      <p:pic>
        <p:nvPicPr>
          <p:cNvPr id="11" name="Imagen 10" descr="\documentclass{article}&#10;\usepackage{amsmath}&#10;\usepackage{amssymb}&#10;\usepackage[HTML]{xcolor}&#10;\usepackage{nopageno}&#10;&#10;\definecolor{Aguamarina}{HTML}{006A6A}&#10;\definecolor{Vino}{HTML}{890909}&#10;&#10;\begin{document}&#10;&#10;\begin{align*}&#10;% Bloque de coeficientes h (dependen de v)&#10;h_1 &amp;= \alpha_1 \alpha_2 \, v'(z_1|_b) \, v'(z_2|_c) - \alpha_1 ik \, v'(z_1|_b) \, v(z_2|_c) \\&#10;h_2 &amp;= ik \alpha_2 \, v(z_1|_b) \, v(z_2|_c) - \alpha_2^2 \, v(z_1|_b) \, v'(z_2|_c) \\&#10;h_3 &amp;= \alpha_1 ik \, v'(z_1|_b) \, v(z_2|_b) - \alpha_2 ik \, v(z_1|_b) \, v'(z_2|_b) \\&#10;h_4 &amp;= \alpha_2^2 \, v(z_1|_b) \, v'(z_2|_b) - \alpha_1 \alpha_2 \, v'(z_1|_b) \, v(z_2|_b) \\[1em]&#10;% Bloque de coeficientes l (dependen de u)&#10;l_1 &amp;= \alpha_1 \alpha_2 \, u'(z_1|_b) \, u'(z_2|_c) - \alpha_1 ik \, u(z_2|_c) \, u'(z_1|_b) \\&#10;l_2 &amp;= \alpha_2 ik \, u(z_1|_b) \, u(z_2|_c) - \alpha_2^2 \, u(z_1|_b) \, u'(z_2|_c) \\&#10;l_3 &amp;= \alpha_1 ik \, u(z_2|_b) \, u'(z_1|_b) - \alpha_2 ik \, u(z_1|_b) \, u'(z_2|_b) \\&#10;l_4 &amp;= \alpha_2^2 \, u(z_1|_b) \, u'(z_2|_b) - \alpha_1 \alpha_2 \, u(z_2|_b) \, u'(z_1|_b)&#10;\end{align*}&#10;&#10;\end{document}" title="IguanaTex Picture Display">
            <a:extLst>
              <a:ext uri="{FF2B5EF4-FFF2-40B4-BE49-F238E27FC236}">
                <a16:creationId xmlns:a16="http://schemas.microsoft.com/office/drawing/2014/main" id="{B57FBCEE-1922-4831-84A4-4FC990D9497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10" y="3937324"/>
            <a:ext cx="3341211" cy="2088859"/>
          </a:xfrm>
          <a:prstGeom prst="rect">
            <a:avLst/>
          </a:prstGeom>
        </p:spPr>
      </p:pic>
      <p:pic>
        <p:nvPicPr>
          <p:cNvPr id="17" name="Imagen 16" descr="\documentclass{article}&#10;\usepackage{amsmath}&#10;\usepackage{amssymb}&#10;\usepackage[HTML]{xcolor}&#10;\usepackage{nopageno}&#10;&#10;\definecolor{Aguamarina}{HTML}{006A6A}&#10;\definecolor{Vino}{HTML}{890909}&#10;&#10;\begin{document}&#10;&#10;\[&#10;T = \left| \frac{1}{\left( \frac{e^{ika}}{-2ik} \cdot \frac{\pi^2}{\alpha_1 \alpha_2} \right) \Gamma_{11}} \right|^2&#10;\]&#10;&#10;\end{document}" title="IguanaTex Picture Display">
            <a:extLst>
              <a:ext uri="{FF2B5EF4-FFF2-40B4-BE49-F238E27FC236}">
                <a16:creationId xmlns:a16="http://schemas.microsoft.com/office/drawing/2014/main" id="{2E6C5AA6-A555-4BD2-ADDF-B4530C03949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609" y="3143982"/>
            <a:ext cx="2179285" cy="793341"/>
          </a:xfrm>
          <a:prstGeom prst="rect">
            <a:avLst/>
          </a:prstGeom>
        </p:spPr>
      </p:pic>
      <p:pic>
        <p:nvPicPr>
          <p:cNvPr id="23" name="Imagen 22" descr="\documentclass{article}&#10;\usepackage{amsmath}&#10;\usepackage{amssymb}&#10;\usepackage[HTML]{xcolor}&#10;\usepackage{nopageno}&#10;&#10;\definecolor{Aguamarina}{HTML}{006A6A}&#10;\definecolor{Vino}{HTML}{890909}&#10;&#10;\begin{document}&#10;\[&#10;T = \left| \frac{G}{A} \right|^2&#10;\]&#10;\end{document}" title="IguanaTex Picture Display">
            <a:extLst>
              <a:ext uri="{FF2B5EF4-FFF2-40B4-BE49-F238E27FC236}">
                <a16:creationId xmlns:a16="http://schemas.microsoft.com/office/drawing/2014/main" id="{2636740A-CBC2-4A0E-B539-E4C8E06DEA7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108" y="1701744"/>
            <a:ext cx="1168048" cy="756401"/>
          </a:xfrm>
          <a:prstGeom prst="rect">
            <a:avLst/>
          </a:prstGeom>
        </p:spPr>
      </p:pic>
      <p:pic>
        <p:nvPicPr>
          <p:cNvPr id="5" name="Imagen 4" descr="\documentclass{article}&#10;\usepackage{amsmath}&#10;\usepackage{amssymb}&#10;\usepackage[HTML]{xcolor}&#10;\usepackage{nopageno}&#10;&#10;\definecolor{Aguamarina}{HTML}{006A6A}&#10;\definecolor{Vino}{HTML}{890909}&#10;&#10;\begin{document}&#10;&#10;\[&#10;\boxed{T = \left| \frac{2ik \, \alpha_1 \alpha_2}{\pi^2 e^{ika} \, \Gamma_{11}} \right|^2}&#10;\]&#10;&#10;\end{document}" title="IguanaTex Picture Display">
            <a:extLst>
              <a:ext uri="{FF2B5EF4-FFF2-40B4-BE49-F238E27FC236}">
                <a16:creationId xmlns:a16="http://schemas.microsoft.com/office/drawing/2014/main" id="{B14B9D89-F6D7-477C-A0D5-E9D8CB88511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654" y="4981753"/>
            <a:ext cx="2101569" cy="818852"/>
          </a:xfrm>
          <a:prstGeom prst="rect">
            <a:avLst/>
          </a:prstGeom>
        </p:spPr>
      </p:pic>
      <p:pic>
        <p:nvPicPr>
          <p:cNvPr id="27" name="Imagen 26" descr="\documentclass{article}&#10;\usepackage{amsmath}&#10;\usepackage{amssymb}&#10;\usepackage[HTML]{xcolor}&#10;\usepackage{nopageno}&#10;&#10;\definecolor{Aguamarina}{HTML}{006A6A}&#10;\definecolor{Vino}{HTML}{890909}&#10;&#10;\begin{document}&#10;\color{Vino}&#10;\textbf{Transmisión}&#10;&#10;\end{document}" title="IguanaTex Picture Display">
            <a:extLst>
              <a:ext uri="{FF2B5EF4-FFF2-40B4-BE49-F238E27FC236}">
                <a16:creationId xmlns:a16="http://schemas.microsoft.com/office/drawing/2014/main" id="{002401F3-2200-4856-A980-CE2C15EE316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706046"/>
            <a:ext cx="899486" cy="10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9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\documentclass{article}&#10;\usepackage{amsmath}&#10;\usepackage{amssymb}&#10;\usepackage[HTML]{xcolor}&#10;\usepackage{nopageno}&#10;&#10;\definecolor{Aguamarina}{HTML}{006A6A}&#10;\definecolor{Vino}{HTML}{890909}&#10;&#10;\begin{document}&#10;&#10;Desarrollo {\color{Vino} Triangular}&#10;&#10;\end{document}" title="IguanaTex Picture Display">
            <a:extLst>
              <a:ext uri="{FF2B5EF4-FFF2-40B4-BE49-F238E27FC236}">
                <a16:creationId xmlns:a16="http://schemas.microsoft.com/office/drawing/2014/main" id="{2D80B2CB-5525-4A19-A8B2-4E64A09C28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352338"/>
            <a:ext cx="2936637" cy="290061"/>
          </a:xfrm>
          <a:prstGeom prst="rect">
            <a:avLst/>
          </a:prstGeom>
        </p:spPr>
      </p:pic>
      <p:pic>
        <p:nvPicPr>
          <p:cNvPr id="9" name="Imagen 8" descr="\documentclass{article}&#10;\usepackage{amsmath}&#10;\usepackage{amssymb}&#10;\usepackage[HTML]{xcolor}&#10;\usepackage{nopageno}&#10;&#10;\definecolor{Aguamarina}{HTML}{006A6A}&#10;\definecolor{Vino}{HTML}{890909}&#10;&#10;\begin{document}&#10;\color{Vino}&#10;\textbf{Reflexión}&#10;&#10;\end{document}" title="IguanaTex Picture Display">
            <a:extLst>
              <a:ext uri="{FF2B5EF4-FFF2-40B4-BE49-F238E27FC236}">
                <a16:creationId xmlns:a16="http://schemas.microsoft.com/office/drawing/2014/main" id="{CC8C4666-E0FE-4A99-B079-809D2A26B6A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706047"/>
            <a:ext cx="691156" cy="109083"/>
          </a:xfrm>
          <a:prstGeom prst="rect">
            <a:avLst/>
          </a:prstGeom>
        </p:spPr>
      </p:pic>
      <p:pic>
        <p:nvPicPr>
          <p:cNvPr id="19" name="Imagen 18" descr="\documentclass{article}&#10;\usepackage{amsmath}&#10;\usepackage{amssymb}&#10;\usepackage[HTML]{xcolor}&#10;\usepackage{nopageno}&#10;&#10;\definecolor{Aguamarina}{HTML}{006A6A}&#10;\definecolor{Vino}{HTML}{890909}&#10;&#10;\begin{document}&#10;\[&#10;\boxed{R = \left| \frac{\Gamma_{21}}{\Gamma_{11}} \right|^2}&#10;\]&#10;\end{document}" title="IguanaTex Picture Display">
            <a:extLst>
              <a:ext uri="{FF2B5EF4-FFF2-40B4-BE49-F238E27FC236}">
                <a16:creationId xmlns:a16="http://schemas.microsoft.com/office/drawing/2014/main" id="{F91A5283-E9FA-4976-879F-376752CC703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074" y="3429000"/>
            <a:ext cx="1425139" cy="836793"/>
          </a:xfrm>
          <a:prstGeom prst="rect">
            <a:avLst/>
          </a:prstGeom>
        </p:spPr>
      </p:pic>
      <p:pic>
        <p:nvPicPr>
          <p:cNvPr id="13" name="Imagen 12" descr="\documentclass{article}&#10;\usepackage{amsmath}&#10;\usepackage{amssymb}&#10;\usepackage[HTML]{xcolor}&#10;\usepackage{nopageno}&#10;&#10;\definecolor{Aguamarina}{HTML}{006A6A}&#10;\definecolor{Vino}{HTML}{890909}&#10;&#10;\begin{document}&#10;&#10;\[&#10;R = \left| \frac{B}{A} \right|^2&#10;\]&#10;&#10;\end{document}" title="IguanaTex Picture Display">
            <a:extLst>
              <a:ext uri="{FF2B5EF4-FFF2-40B4-BE49-F238E27FC236}">
                <a16:creationId xmlns:a16="http://schemas.microsoft.com/office/drawing/2014/main" id="{09D7A48E-0F88-414D-9485-940853650D3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667" y="1963225"/>
            <a:ext cx="1050183" cy="672178"/>
          </a:xfrm>
          <a:prstGeom prst="rect">
            <a:avLst/>
          </a:prstGeom>
        </p:spPr>
      </p:pic>
      <p:pic>
        <p:nvPicPr>
          <p:cNvPr id="15" name="Imagen 14" descr="\documentclass{article}&#10;\usepackage{amsmath}&#10;\usepackage{amssymb}&#10;\usepackage[HTML]{xcolor}&#10;\usepackage{nopageno}&#10;&#10;\definecolor{Aguamarina}{HTML}{006A6A}&#10;\definecolor{Vino}{HTML}{890909}&#10;&#10;\begin{document}&#10;\[&#10;\Gamma_{21} = e^{ikc} \left[ \begin{aligned}&#10;&amp;+ h_1 \left( \alpha_1 u'(z_1|_a) u(z_2|_b) - ik u(z_1|_a) u(z_2|_b) \right) \\&#10;&amp;+ h_2 \left( \alpha_1 u'(z_1|_a) u'(z_2|_b) - ik u(z_1|_a) u'(z_2|_b) \right) \\&#10;&amp;+ h_3 \left( \alpha_1 u'(z_1|_a) u(z_2|_c) - ik u(z_1|_a) u(z_2|_c) \right) \\&#10;&amp;+ h_4 \left( \alpha_1 u'(z_1|_a) u'(z_2|_c) - ik u(z_1|_a) u'(z_2|_c) \right) \\&#10;&amp;+ l_4 \left( \alpha_1 v'(z_1|_a) v'(z_2|_c) - ik v(z_1|_a) v'(z_2|_c) \right) \\&#10;&amp;+ l_3 \left( \alpha_1 v'(z_1|_a) v(z_2|_c) - ik v(z_1|_a) v(z_2|_c) \right) \\&#10;&amp;+ l_1 \left( \alpha_1 v'(z_1|_a) v(z_2|_b) - ik v(z_1|_a) v(z_2|_b) \right) \\&#10;&amp;+ l_2 \left( \alpha_1 v'(z_1|_a) v'(z_2|_b) - ik v(z_1|_a) v'(z_2|_b) \right)&#10;\end{aligned} \right]&#10;\]&#10;\end{document}" title="IguanaTex Picture Display">
            <a:extLst>
              <a:ext uri="{FF2B5EF4-FFF2-40B4-BE49-F238E27FC236}">
                <a16:creationId xmlns:a16="http://schemas.microsoft.com/office/drawing/2014/main" id="{C2839971-E39C-423C-8294-060DEFE776B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86" y="3601732"/>
            <a:ext cx="4202201" cy="1964640"/>
          </a:xfrm>
          <a:prstGeom prst="rect">
            <a:avLst/>
          </a:prstGeom>
        </p:spPr>
      </p:pic>
      <p:pic>
        <p:nvPicPr>
          <p:cNvPr id="17" name="Imagen 16" descr="\documentclass{article}&#10;\usepackage{amsmath}&#10;\usepackage{amssymb}&#10;\usepackage[HTML]{xcolor}&#10;\usepackage{nopageno}&#10;&#10;\definecolor{Aguamarina}{HTML}{006A6A}&#10;\definecolor{Vino}{HTML}{890909}&#10;&#10;\begin{document}&#10;&#10;\begin{align*}&#10;\Gamma_{11} = e^{ik(c-2a)} \left[ \begin{aligned}&#10;&amp;- h_1 \left( ik \, u(z_1|_a) \, u(z_2|_b) + \alpha_1 \, u'(z_1|_a) \, u(z_2|_b) \right) \\&#10;&amp;- h_2 \left( ik \, u(z_1|_a) \, u'(z_2|_b) + \alpha_1 \, u'(z_1|_a) \, u'(z_2|_b) \right) \\&#10;&amp;- h_3 \left( ik \, u(z_1|_a) \, u(z_2|_c) + \alpha_1 \, u'(z_1|_a) \, u(z_2|_c) \right) \\&#10;&amp;- h_4 \left( ik \, u(z_1|_a) \, u'(z_2|_c) + \alpha_1 \, u'(z_1|_a) \, u'(z_2|_c) \right) \\&#10;&amp;- l_4 \left( ik \, v(z_1|_a) \, v'(z_2|_c) + \alpha_1 \, v'(z_1|_a) \, v'(z_2|_c) \right) \\&#10;&amp;- l_3 \left( ik \, v(z_1|_a) \, v(z_2|_c) + \alpha_1 \, v'(z_1|_a) \, v(z_2|_c) \right) \\&#10;&amp;- l_1 \left( ik \, v(z_1|_a) \, v(z_2|_b) + \alpha_1 \, v'(z_1|_a) \, v(z_2|_b) \right) \\&#10;&amp;- l_2 \left( ik \, v(z_1|_a) \, v'(z_2|_b) + \alpha_1 \, v'(z_1|_a) \, v'(z_2|_b) \right)&#10;\end{aligned} \right]&#10;\end{align*}&#10;&#10;\end{document}" title="IguanaTex Picture Display">
            <a:extLst>
              <a:ext uri="{FF2B5EF4-FFF2-40B4-BE49-F238E27FC236}">
                <a16:creationId xmlns:a16="http://schemas.microsoft.com/office/drawing/2014/main" id="{61B8354D-8C40-4CE2-B6A4-B0D51398CEA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808" y="1342359"/>
            <a:ext cx="4547779" cy="191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274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4.766"/>
  <p:tag name="ORIGINALWIDTH" val=" 1161.912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Desarrollo {\color{Vino} Triangular}&#10;&#10;\end{document}"/>
  <p:tag name="IGUANATEXSIZE" val="20"/>
  <p:tag name="IGUANATEXCURSOR" val="242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8.51236"/>
  <p:tag name="ORIGINALWIDTH" val=" 455.3135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color{Vino}&#10;\textbf{Picture}&#10;&#10;\end{document}"/>
  <p:tag name="IGUANATEXSIZE" val="20"/>
  <p:tag name="IGUANATEXCURSOR" val="233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58.718"/>
  <p:tag name="ORIGINALWIDTH" val=" 2974.165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&#10;\[&#10;\begin{aligned}&#10;k^2 &amp;= \frac{2mE}{\hbar^2} &amp; q^2 &amp;= \frac{2mV_0}{\hbar^2} \\[1em]&#10;\alpha_1 &amp;= \left( \frac{q^2}{b-a} \right)^{1/3} &amp; \alpha_2 &amp;= \left( -\frac{q^2}{c-b} \right)^{1/3} \\[1em]&#10;\beta_1 &amp;= -\frac{1}{\alpha_1^2} \left( \frac{q^2 a}{b-a} + k^2 \right) &amp; \beta_2 &amp;= \frac{1}{\alpha_2^2} \left( \frac{q^2 c}{c-b} - k^2 \right) \\[1em]&#10;z_1(x) &amp;= \alpha_1 x + \beta_1 &amp; z_2(x) &amp;= \alpha_2 x + \beta_2&#10;\end{aligned}&#10;\]&#10;\end{document}"/>
  <p:tag name="IGUANATEXSIZE" val="20"/>
  <p:tag name="IGUANATEXCURSOR" val="634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78.0947"/>
  <p:tag name="ORIGINALWIDTH" val=" 2137.798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[&#10;\Psi(x) = \begin{cases}&#10;A e^{ikx} + B e^{-ikx} &amp; x &lt; a \\&#10;C \, u(z_1) + D \, v(z_1) &amp; a \leq x \leq b \\&#10;E \, u(z_2) + F \, v(z_2) &amp; b \leq x \leq c \\&#10;G e^{ikx} + H e^{-ikx} &amp; x &gt; c&#10;\end{cases}&#10;\]&#10;&#10;\end{document}"/>
  <p:tag name="IGUANATEXSIZE" val="20"/>
  <p:tag name="IGUANATEXCURSOR" val="403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0.00835"/>
  <p:tag name="ORIGINALWIDTH" val=" 58.50819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a&#10;&#10;\end{document}"/>
  <p:tag name="IGUANATEXSIZE" val="20"/>
  <p:tag name="IGUANATEXCURSOR" val="206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75.0942"/>
  <p:tag name="ORIGINALWIDTH" val=" 1778.498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[&#10;V(x) = \begin{cases}&#10;0 &amp; x \leq a \quad \\&#10;\frac{V_0}{b-a}(x-a) &amp; a \leq x \leq b \quad  \\&#10;\frac{-V_0}{c-b}(x-c) &amp; b \leq x \leq c \quad  \\&#10;0 &amp; x \geq c \quad &#10;\end{cases}&#10;\]&#10;\end{document}"/>
  <p:tag name="IGUANATEXSIZE" val="20"/>
  <p:tag name="IGUANATEXCURSOR" val="369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76.7887"/>
  <p:tag name="ORIGINALWIDTH" val=" 1434.95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&#10;\[&#10;-\frac{\hbar^2}{2m} \frac{d^2 \psi}{d x^2} + V(x)\psi = E^*\psi&#10;\]&#10;&#10;\end{document}"/>
  <p:tag name="IGUANATEXSIZE" val="20"/>
  <p:tag name="IGUANATEXCURSOR" val="269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0.00835"/>
  <p:tag name="ORIGINALWIDTH" val=" 50.25701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c&#10;&#10;\end{document}"/>
  <p:tag name="IGUANATEXSIZE" val="20"/>
  <p:tag name="IGUANATEXCURSOR" val="207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0.0126"/>
  <p:tag name="ORIGINALWIDTH" val=" 65.25913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b&#10;&#10;\end{document}"/>
  <p:tag name="IGUANATEXSIZE" val="20"/>
  <p:tag name="IGUANATEXCURSOR" val="207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6.7677"/>
  <p:tag name="ORIGINALWIDTH" val=" 282.0394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color{Vino}&#10;\textbf{V(x)}&#10;&#10;\end{document}"/>
  <p:tag name="IGUANATEXSIZE" val="20"/>
  <p:tag name="IGUANATEXCURSOR" val="232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56.25787"/>
  <p:tag name="ORIGINALWIDTH" val=" 66.75929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color{Vino}&#10;x&#10;&#10;\end{document}"/>
  <p:tag name="IGUANATEXSIZE" val="20"/>
  <p:tag name="IGUANATEXCURSOR" val="220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4.766"/>
  <p:tag name="ORIGINALWIDTH" val=" 438.0611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[&#10;E^* &lt; V_0&#10;\]&#10;&#10;\end{document}"/>
  <p:tag name="IGUANATEXSIZE" val="20"/>
  <p:tag name="IGUANATEXCURSOR" val="212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08.015"/>
  <p:tag name="ORIGINALWIDTH" val=" 113.2658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[&#10;V_0&#10;\]&#10;\end{document}"/>
  <p:tag name="IGUANATEXSIZE" val="20"/>
  <p:tag name="IGUANATEXCURSOR" val="214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04.5"/>
  <p:tag name="LATEXFORMWIDTH" val=" 385"/>
  <p:tag name="LATEXFORMWRAP" val="Verdadero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4.766"/>
  <p:tag name="ORIGINALWIDTH" val=" 438.0611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[&#10;E^* &gt; V_0&#10;\]&#10;&#10;\end{document}"/>
  <p:tag name="IGUANATEXSIZE" val="20"/>
  <p:tag name="IGUANATEXCURSOR" val="214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4.766"/>
  <p:tag name="ORIGINALWIDTH" val=" 1161.912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Desarrollo {\color{Vino} Triangular}&#10;&#10;\end{document}"/>
  <p:tag name="IGUANATEXSIZE" val="20"/>
  <p:tag name="IGUANATEXCURSOR" val="242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0.76268"/>
  <p:tag name="ORIGINALWIDTH" val=" 1500.959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color{Vino}&#10;\textbf{Matriz de Transferencia}&#10;&#10;\end{document}"/>
  <p:tag name="IGUANATEXSIZE" val="20"/>
  <p:tag name="IGUANATEXCURSOR" val="249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1.5421"/>
  <p:tag name="ORIGINALWIDTH" val=" 2053.037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[&#10;\begin{pmatrix} A \\ B \end{pmatrix} = M_1^{-1} M_2 M_3^{-1} M_4 M_5^{-1} M_6 \begin{pmatrix} G \\ H \end{pmatrix}&#10;\]&#10;\end{document}"/>
  <p:tag name="IGUANATEXSIZE" val="20"/>
  <p:tag name="IGUANATEXCURSOR" val="325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01.5421"/>
  <p:tag name="ORIGINALWIDTH" val=" 1377.192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[&#10;\begin{pmatrix} A \\ B \end{pmatrix} = \begin{pmatrix} \Gamma_{11} &amp; \Gamma_{12} \\ \Gamma_{21} &amp; \Gamma_{22} \end{pmatrix} \begin{pmatrix} G \\ 0 \end{pmatrix}&#10;\]&#10;\end{document}"/>
  <p:tag name="IGUANATEXSIZE" val="20"/>
  <p:tag name="IGUANATEXCURSOR" val="225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1.701"/>
  <p:tag name="ORIGINALWIDTH" val=" 3425.728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begin{align*}&#10;\Gamma_{11} = e^{ik(c-2a)} \left[ \begin{aligned}&#10;&amp;- h_1 \left( ik \, u(z_1|_a) \, u(z_2|_b) + \alpha_1 \, u'(z_1|_a) \, u(z_2|_b) \right) \\&#10;&amp;- h_2 \left( ik \, u(z_1|_a) \, u'(z_2|_b) + \alpha_1 \, u'(z_1|_a) \, u'(z_2|_b) \right) \\&#10;&amp;- h_3 \left( ik \, u(z_1|_a) \, u(z_2|_c) + \alpha_1 \, u'(z_1|_a) \, u(z_2|_c) \right) \\&#10;&amp;- h_4 \left( ik \, u(z_1|_a) \, u'(z_2|_c) + \alpha_1 \, u'(z_1|_a) \, u'(z_2|_c) \right) \\&#10;&amp;- l_4 \left( ik \, v(z_1|_a) \, v'(z_2|_c) + \alpha_1 \, v'(z_1|_a) \, v'(z_2|_c) \right) \\&#10;&amp;- l_3 \left( ik \, v(z_1|_a) \, v(z_2|_c) + \alpha_1 \, v'(z_1|_a) \, v(z_2|_c) \right) \\&#10;&amp;- l_1 \left( ik \, v(z_1|_a) \, v(z_2|_b) + \alpha_1 \, v'(z_1|_a) \, v(z_2|_b) \right) \\&#10;&amp;- l_2 \left( ik \, v(z_1|_a) \, v'(z_2|_b) + \alpha_1 \, v'(z_1|_a) \, v'(z_2|_b) \right)&#10;\end{aligned} \right]&#10;\end{align*}&#10;&#10;\end{document}"/>
  <p:tag name="IGUANATEXSIZE" val="20"/>
  <p:tag name="IGUANATEXCURSOR" val="219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4.766"/>
  <p:tag name="ORIGINALWIDTH" val=" 1161.912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Desarrollo {\color{Vino} Triangular}&#10;&#10;\end{document}"/>
  <p:tag name="IGUANATEXSIZE" val="20"/>
  <p:tag name="IGUANATEXCURSOR" val="242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27.727"/>
  <p:tag name="ORIGINALWIDTH" val=" 2603.613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begin{align*}&#10;% Bloque de coeficientes h (dependen de v)&#10;h_1 &amp;= \alpha_1 \alpha_2 \, v'(z_1|_b) \, v'(z_2|_c) - \alpha_1 ik \, v'(z_1|_b) \, v(z_2|_c) \\&#10;h_2 &amp;= ik \alpha_2 \, v(z_1|_b) \, v(z_2|_c) - \alpha_2^2 \, v(z_1|_b) \, v'(z_2|_c) \\&#10;h_3 &amp;= \alpha_1 ik \, v'(z_1|_b) \, v(z_2|_b) - \alpha_2 ik \, v(z_1|_b) \, v'(z_2|_b) \\&#10;h_4 &amp;= \alpha_2^2 \, v(z_1|_b) \, v'(z_2|_b) - \alpha_1 \alpha_2 \, v'(z_1|_b) \, v(z_2|_b) \\[1em]&#10;% Bloque de coeficientes l (dependen de u)&#10;l_1 &amp;= \alpha_1 \alpha_2 \, u'(z_1|_b) \, u'(z_2|_c) - \alpha_1 ik \, u(z_2|_c) \, u'(z_1|_b) \\&#10;l_2 &amp;= \alpha_2 ik \, u(z_1|_b) \, u(z_2|_c) - \alpha_2^2 \, u(z_1|_b) \, u'(z_2|_c) \\&#10;l_3 &amp;= \alpha_1 ik \, u(z_2|_b) \, u'(z_1|_b) - \alpha_2 ik \, u(z_1|_b) \, u'(z_2|_b) \\&#10;l_4 &amp;= \alpha_2^2 \, u(z_1|_b) \, u'(z_2|_b) - \alpha_1 \alpha_2 \, u(z_2|_b) \, u'(z_1|_b)&#10;\end{align*}&#10;&#10;\end{document}"/>
  <p:tag name="IGUANATEXSIZE" val="20"/>
  <p:tag name="IGUANATEXCURSOR" val="1061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95.0691"/>
  <p:tag name="ORIGINALWIDTH" val=" 1359.94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[&#10;T = \left| \frac{1}{\left( \frac{e^{ika}}{-2ik} \cdot \frac{\pi^2}{\alpha_1 \alpha_2} \right) \Gamma_{11}} \right|^2&#10;\]&#10;&#10;\end{document}"/>
  <p:tag name="IGUANATEXSIZE" val="20"/>
  <p:tag name="IGUANATEXCURSOR" val="328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30.7961"/>
  <p:tag name="ORIGINALWIDTH" val=" 510.8213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[&#10;T = \left| \frac{G}{A} \right|^2&#10;\]&#10;\end{document}"/>
  <p:tag name="IGUANATEXSIZE" val="20"/>
  <p:tag name="IGUANATEXCURSOR" val="243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11.8075"/>
  <p:tag name="ORIGINALWIDTH" val=" 1056.897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[&#10;\boxed{T = \left| \frac{2ik \, \alpha_1 \alpha_2}{\pi^2 e^{ika} \, \Gamma_{11}} \right|^2}&#10;\]&#10;&#10;\end{document}"/>
  <p:tag name="IGUANATEXSIZE" val="20"/>
  <p:tag name="IGUANATEXCURSOR" val="302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0.76268"/>
  <p:tag name="ORIGINALWIDTH" val=" 754.6053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color{Vino}&#10;\textbf{Transmisión}&#10;&#10;\end{document}"/>
  <p:tag name="IGUANATEXSIZE" val="20"/>
  <p:tag name="IGUANATEXCURSOR" val="217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4.766"/>
  <p:tag name="ORIGINALWIDTH" val=" 1161.912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Desarrollo {\color{Vino} Triangular}&#10;&#10;\end{document}"/>
  <p:tag name="IGUANATEXSIZE" val="20"/>
  <p:tag name="IGUANATEXCURSOR" val="242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91.51276"/>
  <p:tag name="ORIGINALWIDTH" val=" 579.8309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color{Vino}&#10;\textbf{Reflexión}&#10;&#10;\end{document}"/>
  <p:tag name="IGUANATEXSIZE" val="20"/>
  <p:tag name="IGUANATEXCURSOR" val="235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11.8075"/>
  <p:tag name="ORIGINALWIDTH" val=" 701.3479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[&#10;\boxed{R = \left| \frac{\Gamma_{21}}{\Gamma_{11}} \right|^2}&#10;\]&#10;\end{document}"/>
  <p:tag name="IGUANATEXSIZE" val="20"/>
  <p:tag name="IGUANATEXCURSOR" val="271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30.7961"/>
  <p:tag name="ORIGINALWIDTH" val=" 516.8221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[&#10;R = \left| \frac{B}{A} \right|^2&#10;\]&#10;&#10;\end{document}"/>
  <p:tag name="IGUANATEXSIZE" val="20"/>
  <p:tag name="IGUANATEXCURSOR" val="227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1.701"/>
  <p:tag name="ORIGINALWIDTH" val=" 3083.68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\[&#10;\Gamma_{21} = e^{ikc} \left[ \begin{aligned}&#10;&amp;+ h_1 \left( \alpha_1 u'(z_1|_a) u(z_2|_b) - ik u(z_1|_a) u(z_2|_b) \right) \\&#10;&amp;+ h_2 \left( \alpha_1 u'(z_1|_a) u'(z_2|_b) - ik u(z_1|_a) u'(z_2|_b) \right) \\&#10;&amp;+ h_3 \left( \alpha_1 u'(z_1|_a) u(z_2|_c) - ik u(z_1|_a) u(z_2|_c) \right) \\&#10;&amp;+ h_4 \left( \alpha_1 u'(z_1|_a) u'(z_2|_c) - ik u(z_1|_a) u'(z_2|_c) \right) \\&#10;&amp;+ l_4 \left( \alpha_1 v'(z_1|_a) v'(z_2|_c) - ik v(z_1|_a) v'(z_2|_c) \right) \\&#10;&amp;+ l_3 \left( \alpha_1 v'(z_1|_a) v(z_2|_c) - ik v(z_1|_a) v(z_2|_c) \right) \\&#10;&amp;+ l_1 \left( \alpha_1 v'(z_1|_a) v(z_2|_b) - ik v(z_1|_a) v(z_2|_b) \right) \\&#10;&amp;+ l_2 \left( \alpha_1 v'(z_1|_a) v'(z_2|_b) - ik v(z_1|_a) v'(z_2|_b) \right)&#10;\end{aligned} \right]&#10;\]&#10;\end{document}"/>
  <p:tag name="IGUANATEXSIZE" val="20"/>
  <p:tag name="IGUANATEXCURSOR" val="922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41.701"/>
  <p:tag name="ORIGINALWIDTH" val=" 3425.728"/>
  <p:tag name="OUTPUTTYPE" val="PNG"/>
  <p:tag name="IGUANATEXVERSION" val="162"/>
  <p:tag name="LATEXADDIN" val="\documentclass{article}&#10;\usepackage{amsmath}&#10;\usepackage{amssymb}&#10;\usepackage[HTML]{xcolor}&#10;\usepackage{nopageno}&#10;&#10;\definecolor{Aguamarina}{HTML}{006A6A}&#10;\definecolor{Vino}{HTML}{890909}&#10;&#10;\begin{document}&#10;&#10;\begin{align*}&#10;\Gamma_{11} = e^{ik(c-2a)} \left[ \begin{aligned}&#10;&amp;- h_1 \left( ik \, u(z_1|_a) \, u(z_2|_b) + \alpha_1 \, u'(z_1|_a) \, u(z_2|_b) \right) \\&#10;&amp;- h_2 \left( ik \, u(z_1|_a) \, u'(z_2|_b) + \alpha_1 \, u'(z_1|_a) \, u'(z_2|_b) \right) \\&#10;&amp;- h_3 \left( ik \, u(z_1|_a) \, u(z_2|_c) + \alpha_1 \, u'(z_1|_a) \, u(z_2|_c) \right) \\&#10;&amp;- h_4 \left( ik \, u(z_1|_a) \, u'(z_2|_c) + \alpha_1 \, u'(z_1|_a) \, u'(z_2|_c) \right) \\&#10;&amp;- l_4 \left( ik \, v(z_1|_a) \, v'(z_2|_c) + \alpha_1 \, v'(z_1|_a) \, v'(z_2|_c) \right) \\&#10;&amp;- l_3 \left( ik \, v(z_1|_a) \, v(z_2|_c) + \alpha_1 \, v'(z_1|_a) \, v(z_2|_c) \right) \\&#10;&amp;- l_1 \left( ik \, v(z_1|_a) \, v(z_2|_b) + \alpha_1 \, v'(z_1|_a) \, v(z_2|_b) \right) \\&#10;&amp;- l_2 \left( ik \, v(z_1|_a) \, v'(z_2|_b) + \alpha_1 \, v'(z_1|_a) \, v'(z_2|_b) \right)&#10;\end{aligned} \right]&#10;\end{align*}&#10;&#10;\end{document}"/>
  <p:tag name="IGUANATEXSIZE" val="20"/>
  <p:tag name="IGUANATEXCURSOR" val="219"/>
  <p:tag name="TRANSPARENCY" val="Verdadero"/>
  <p:tag name="CHOOSECOLOR" val="Falso"/>
  <p:tag name="COLORHEX" val="000000"/>
  <p:tag name="FILENAME" val=""/>
  <p:tag name="LATEXENGINEID" val="2"/>
  <p:tag name="TEMPFOLDER" val="E:\IguanaTex\"/>
  <p:tag name="LATEXFORMHEIGHT" val=" 320"/>
  <p:tag name="LATEXFORMWIDTH" val=" 385"/>
  <p:tag name="LATEXFORMWRAP" val="Verdadero"/>
  <p:tag name="BITMAPVECTOR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Cesar Valentino Galindo Ramos</dc:creator>
  <cp:lastModifiedBy>Cesar Valentino Galindo Ramos</cp:lastModifiedBy>
  <cp:revision>10</cp:revision>
  <dcterms:created xsi:type="dcterms:W3CDTF">2025-11-19T02:29:39Z</dcterms:created>
  <dcterms:modified xsi:type="dcterms:W3CDTF">2025-11-19T04:19:01Z</dcterms:modified>
</cp:coreProperties>
</file>